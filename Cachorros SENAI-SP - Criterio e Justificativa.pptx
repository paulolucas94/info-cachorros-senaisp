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2" r:id="rId4"/>
    <p:sldMasterId id="2147483686" r:id="rId5"/>
  </p:sldMasterIdLst>
  <p:notesMasterIdLst>
    <p:notesMasterId r:id="rId9"/>
  </p:notesMasterIdLst>
  <p:sldIdLst>
    <p:sldId id="13427" r:id="rId6"/>
    <p:sldId id="13482" r:id="rId7"/>
    <p:sldId id="13483" r:id="rId8"/>
  </p:sldIdLst>
  <p:sldSz cx="12192000" cy="6858000"/>
  <p:notesSz cx="6797675" cy="9926638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lack" panose="00000A00000000000000" pitchFamily="2" charset="0"/>
      <p:bold r:id="rId14"/>
      <p:boldItalic r:id="rId15"/>
    </p:embeddedFont>
    <p:embeddedFont>
      <p:font typeface="Montserrat Bold" panose="00000800000000000000" charset="0"/>
      <p:bold r:id="rId16"/>
    </p:embeddedFont>
    <p:embeddedFont>
      <p:font typeface="Montserrat Medium" panose="00000600000000000000" pitchFamily="2" charset="0"/>
      <p:regular r:id="rId17"/>
      <p:italic r:id="rId18"/>
    </p:embeddedFont>
    <p:embeddedFont>
      <p:font typeface="Poppins ExtraBold" panose="00000900000000000000" pitchFamily="2" charset="0"/>
      <p:bold r:id="rId19"/>
      <p:boldItalic r:id="rId20"/>
    </p:embeddedFont>
    <p:embeddedFont>
      <p:font typeface="Poppins Light" panose="00000400000000000000" pitchFamily="2" charset="0"/>
      <p:regular r:id="rId21"/>
      <p:italic r:id="rId2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2249"/>
    <a:srgbClr val="3F5663"/>
    <a:srgbClr val="4FAB2E"/>
    <a:srgbClr val="EE6D2A"/>
    <a:srgbClr val="53AC34"/>
    <a:srgbClr val="A02293"/>
    <a:srgbClr val="0399D4"/>
    <a:srgbClr val="20702A"/>
    <a:srgbClr val="106085"/>
    <a:srgbClr val="1D1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3C28D6-F3B4-8C72-3156-6B2D21BB96F8}" v="2" dt="2026-08-12T16:07:00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2.fntdata"/><Relationship Id="rId7" Type="http://schemas.openxmlformats.org/officeDocument/2006/relationships/slide" Target="slides/slide2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Lucas da Silva" userId="S::paulo.lucas@sp.senai.br::03587a96-fe83-4f85-9e3d-7357c9625d72" providerId="AD" clId="Web-{F83C28D6-F3B4-8C72-3156-6B2D21BB96F8}"/>
    <pc:docChg chg="modSld">
      <pc:chgData name="Paulo Lucas da Silva" userId="S::paulo.lucas@sp.senai.br::03587a96-fe83-4f85-9e3d-7357c9625d72" providerId="AD" clId="Web-{F83C28D6-F3B4-8C72-3156-6B2D21BB96F8}" dt="2026-08-12T16:07:00.250" v="1" actId="1076"/>
      <pc:docMkLst>
        <pc:docMk/>
      </pc:docMkLst>
      <pc:sldChg chg="modSp">
        <pc:chgData name="Paulo Lucas da Silva" userId="S::paulo.lucas@sp.senai.br::03587a96-fe83-4f85-9e3d-7357c9625d72" providerId="AD" clId="Web-{F83C28D6-F3B4-8C72-3156-6B2D21BB96F8}" dt="2026-08-12T16:07:00.250" v="1" actId="1076"/>
        <pc:sldMkLst>
          <pc:docMk/>
          <pc:sldMk cId="3114081075" sldId="13482"/>
        </pc:sldMkLst>
        <pc:picChg chg="mod">
          <ac:chgData name="Paulo Lucas da Silva" userId="S::paulo.lucas@sp.senai.br::03587a96-fe83-4f85-9e3d-7357c9625d72" providerId="AD" clId="Web-{F83C28D6-F3B4-8C72-3156-6B2D21BB96F8}" dt="2026-08-12T16:07:00.250" v="1" actId="1076"/>
          <ac:picMkLst>
            <pc:docMk/>
            <pc:sldMk cId="3114081075" sldId="13482"/>
            <ac:picMk id="3" creationId="{85A0584D-D84F-78D6-58E0-ACA6F9036A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04" tIns="45702" rIns="91404" bIns="45702" rtlCol="0"/>
          <a:lstStyle>
            <a:lvl1pPr algn="r">
              <a:defRPr sz="1200"/>
            </a:lvl1pPr>
          </a:lstStyle>
          <a:p>
            <a:fld id="{64C272C3-995E-4949-8E1D-3ED1FC74BD94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4" tIns="45702" rIns="91404" bIns="45702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9" y="4777195"/>
            <a:ext cx="5438140" cy="3908614"/>
          </a:xfrm>
          <a:prstGeom prst="rect">
            <a:avLst/>
          </a:prstGeom>
        </p:spPr>
        <p:txBody>
          <a:bodyPr vert="horz" lIns="91404" tIns="45702" rIns="91404" bIns="45702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945659" cy="498055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4" y="9428586"/>
            <a:ext cx="2945659" cy="498055"/>
          </a:xfrm>
          <a:prstGeom prst="rect">
            <a:avLst/>
          </a:prstGeom>
        </p:spPr>
        <p:txBody>
          <a:bodyPr vert="horz" lIns="91404" tIns="45702" rIns="91404" bIns="45702" rtlCol="0" anchor="b"/>
          <a:lstStyle>
            <a:lvl1pPr algn="r">
              <a:defRPr sz="1200"/>
            </a:lvl1pPr>
          </a:lstStyle>
          <a:p>
            <a:fld id="{3000AC25-7A43-471F-BF31-DC02340E20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49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69527-DFA5-76B5-407D-CFA1ED52D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49462C-D6C8-9D31-D201-3A30D052D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3C6306-C673-042B-BCDF-991BA5B6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7D3244-D684-0555-B2DC-002A91DE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DB155A-A155-DFF0-1151-16C19F12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50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FD030-6D39-BB11-B6F0-B8144290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AEDC0-F05F-9925-707F-02DEA0C57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39391-6E26-A011-E793-50E454B0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AE7FAE-A2B7-35E0-A05B-70255B18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8AD077-F180-ED0B-EE64-EC13818E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79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0814E-B726-2C58-C51E-8F25086D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7554A7-795D-9036-5051-571A905F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F220A8-582E-005A-44CA-41B8C7D4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381B66-4D03-A371-6509-627857DF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C89E52-83B4-93B8-81A7-7F9C09DA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52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D9D8F-9B68-0122-1621-DC503AC1B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21F5C-77EB-BAAA-D016-6585DB80A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AE190F-F5E8-9635-3636-A65751E9F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2D1EB9-4706-D1F6-D0CD-A06BB13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88B7AB-1FA7-F323-01FA-46649C1A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A734E0-5E99-C90B-A500-ADD2C8DD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12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6DF83-5C2E-98C8-97E5-3212E980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169E62-2FD0-1B28-E2A0-B4660A988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845B8D-D63B-73C1-1536-2F312ADE9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F02DF5-5BFA-6650-8DE0-1B74DBF1D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D813B4-994C-2DC8-38DE-737A17625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A6C1C9-1E19-B4E2-F136-7916759D6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EDC21F-3B19-740B-E2B5-BC780361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FAA71C1-7022-CEC6-301A-78762712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97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065FE-F6AD-105B-CFC6-BAF2664F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1888E4-E5B4-DD43-9A6D-97A43861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72A8D0-64AE-8DDD-48B9-A00021F0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BEF270-7F62-71F4-E082-F6E33569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82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4488A1-32C2-5C6D-591E-42E12BA5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6E3FB71-2DBC-67EA-D68A-877E1C24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E3605E-3572-FA8B-2241-9C522FF2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86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E4B86-9461-D77D-7C41-17DB9274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CBB026-2522-1E84-C03F-32999C275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153CF4-234F-4A45-3DE3-2AF767140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5053DD-7EE7-0C2D-05D4-E0CDF2C5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F9DCC8-E0A5-88F5-B8C6-5596BD4B7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190140-970B-1C5C-F811-5678F2BA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93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B4A4A-19A0-13EF-1355-9C2A7420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AF82040-AC81-D0F2-6985-44EAD626F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B2F60E-6E95-915B-2F32-1FC42569A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468CCA-EEB8-77A8-6DDF-C3B22EE0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E74639-F706-FD94-9D49-FB91A641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BABC5A-A2CC-62A6-D1EE-B501929D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950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A8445-171B-7ACB-7B2C-82DED35F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7922C8-A1D6-6C6D-F386-122AB7D40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AD32AB-DD8D-2816-5DE1-4A682EA1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01F99C-63DB-D56A-8B7F-5075E74A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EC35D2-5628-D929-07D7-5513BCEF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71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CA78B2-F9CC-C3F7-78BE-A48C8A326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1394B8-F980-A837-D00A-C11F9EA0A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8606A9-AC56-B16A-CE9D-CEEE7274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D631BC-DD02-A6A7-F62E-C2398CB5E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F9EFD0-BF2F-3506-494A-2AC329EF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4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299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677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0093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89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410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463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7010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973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028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917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64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5DE91B8-F3C8-9D6D-C066-B4F586E21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92646A-6F62-F667-A4B1-BD9330F2A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6B69A5-3102-759E-6FF6-A31A9705B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22A71-6719-4F6F-90F5-97BB4303268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77286D-5044-A335-17C8-31FE49C94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F5D6B2-5F30-D3EA-7ED3-4E68F5D3E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87665-56BD-461B-92AE-ECE33C43B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63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33706-2B12-46C6-96E2-7F3FB1D431CC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71130-888E-4F82-9395-6FEDC2A24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3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hyperlink" Target="https://www.cvsf.com.br/entenda-o-que-e-e-como-funciona-o-microchip-de-identificacao-anim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87623-E599-A84B-BE04-43C97E1C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omem sentado em aeroporto&#10;&#10;Descrição gerada automaticamente com confiança média">
            <a:extLst>
              <a:ext uri="{FF2B5EF4-FFF2-40B4-BE49-F238E27FC236}">
                <a16:creationId xmlns:a16="http://schemas.microsoft.com/office/drawing/2014/main" id="{3551571C-0CD5-8FC7-21A2-90BD0BF41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861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A1DCEA36-47C4-5CA5-5F22-3A365EAD08BD}"/>
              </a:ext>
            </a:extLst>
          </p:cNvPr>
          <p:cNvSpPr/>
          <p:nvPr/>
        </p:nvSpPr>
        <p:spPr>
          <a:xfrm>
            <a:off x="1" y="0"/>
            <a:ext cx="12192000" cy="6854898"/>
          </a:xfrm>
          <a:prstGeom prst="rect">
            <a:avLst/>
          </a:prstGeom>
          <a:gradFill>
            <a:gsLst>
              <a:gs pos="0">
                <a:srgbClr val="EF2249">
                  <a:alpha val="12000"/>
                </a:srgbClr>
              </a:gs>
              <a:gs pos="81000">
                <a:srgbClr val="AF0D2C">
                  <a:alpha val="17000"/>
                </a:srgbClr>
              </a:gs>
              <a:gs pos="100000">
                <a:srgbClr val="AF0D2C">
                  <a:alpha val="73725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88690F18-AAA9-E1D6-6BE4-259C94643EC9}"/>
              </a:ext>
            </a:extLst>
          </p:cNvPr>
          <p:cNvSpPr>
            <a:spLocks/>
          </p:cNvSpPr>
          <p:nvPr/>
        </p:nvSpPr>
        <p:spPr>
          <a:xfrm rot="5400000">
            <a:off x="2668551" y="-2673500"/>
            <a:ext cx="6854898" cy="12192003"/>
          </a:xfrm>
          <a:prstGeom prst="rect">
            <a:avLst/>
          </a:prstGeom>
          <a:gradFill>
            <a:gsLst>
              <a:gs pos="0">
                <a:srgbClr val="EF2249">
                  <a:alpha val="12000"/>
                </a:srgbClr>
              </a:gs>
              <a:gs pos="81000">
                <a:srgbClr val="AF0D2C">
                  <a:alpha val="39000"/>
                </a:srgbClr>
              </a:gs>
              <a:gs pos="100000">
                <a:srgbClr val="AF0D2C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3AEA41F0-B622-F1C5-3AC4-90F8962AA32D}"/>
              </a:ext>
            </a:extLst>
          </p:cNvPr>
          <p:cNvGrpSpPr/>
          <p:nvPr/>
        </p:nvGrpSpPr>
        <p:grpSpPr>
          <a:xfrm>
            <a:off x="628652" y="3584574"/>
            <a:ext cx="8436607" cy="1337945"/>
            <a:chOff x="628652" y="3584574"/>
            <a:chExt cx="8436607" cy="1337945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632D04CE-B279-4E53-0E7D-689150F91AD7}"/>
                </a:ext>
              </a:extLst>
            </p:cNvPr>
            <p:cNvSpPr txBox="1"/>
            <p:nvPr/>
          </p:nvSpPr>
          <p:spPr>
            <a:xfrm>
              <a:off x="871387" y="3677098"/>
              <a:ext cx="8193872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3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 ExtraBold" panose="00000900000000000000" pitchFamily="2" charset="0"/>
                  <a:ea typeface="+mn-ea"/>
                  <a:cs typeface="Poppins ExtraBold" panose="00000900000000000000" pitchFamily="2" charset="0"/>
                </a:rPr>
                <a:t>Cachorros nas Unidades SENAI-SP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3200">
                  <a:solidFill>
                    <a:prstClr val="white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Bem-estar Animal  ·  Análise GIS</a:t>
              </a: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 panose="00000400000000000000" pitchFamily="2" charset="0"/>
                <a:ea typeface="+mn-ea"/>
                <a:cs typeface="Poppins Light" panose="00000400000000000000" pitchFamily="2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C4DB0E91-C577-B013-9033-22844B9AA3BA}"/>
                </a:ext>
              </a:extLst>
            </p:cNvPr>
            <p:cNvSpPr/>
            <p:nvPr/>
          </p:nvSpPr>
          <p:spPr>
            <a:xfrm>
              <a:off x="628652" y="3584574"/>
              <a:ext cx="90726" cy="13379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3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D6B3354-4793-7BBB-F851-8F9B70127AEB}"/>
              </a:ext>
            </a:extLst>
          </p:cNvPr>
          <p:cNvGrpSpPr/>
          <p:nvPr/>
        </p:nvGrpSpPr>
        <p:grpSpPr>
          <a:xfrm>
            <a:off x="9065261" y="-2005715"/>
            <a:ext cx="4927466" cy="4927466"/>
            <a:chOff x="9422450" y="-1534367"/>
            <a:chExt cx="4153716" cy="4153716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715D348-BE65-6813-3692-187BE1DA8B8F}"/>
                </a:ext>
              </a:extLst>
            </p:cNvPr>
            <p:cNvSpPr/>
            <p:nvPr/>
          </p:nvSpPr>
          <p:spPr>
            <a:xfrm>
              <a:off x="9810528" y="-1146289"/>
              <a:ext cx="3377561" cy="3377561"/>
            </a:xfrm>
            <a:prstGeom prst="ellipse">
              <a:avLst/>
            </a:prstGeom>
            <a:noFill/>
            <a:ln w="3175">
              <a:solidFill>
                <a:schemeClr val="bg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C3E0A876-4B5D-B7F0-2C1C-049D69EBC68A}"/>
                </a:ext>
              </a:extLst>
            </p:cNvPr>
            <p:cNvSpPr/>
            <p:nvPr/>
          </p:nvSpPr>
          <p:spPr>
            <a:xfrm>
              <a:off x="10383665" y="-573152"/>
              <a:ext cx="2231286" cy="223128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73D5D515-D159-0208-7ADA-BF040B2BBB28}"/>
                </a:ext>
              </a:extLst>
            </p:cNvPr>
            <p:cNvSpPr>
              <a:spLocks/>
            </p:cNvSpPr>
            <p:nvPr/>
          </p:nvSpPr>
          <p:spPr>
            <a:xfrm>
              <a:off x="9422450" y="-1534367"/>
              <a:ext cx="4153716" cy="4153716"/>
            </a:xfrm>
            <a:custGeom>
              <a:avLst/>
              <a:gdLst>
                <a:gd name="connsiteX0" fmla="*/ 1379391 w 2758782"/>
                <a:gd name="connsiteY0" fmla="*/ 112595 h 2758782"/>
                <a:gd name="connsiteX1" fmla="*/ 112595 w 2758782"/>
                <a:gd name="connsiteY1" fmla="*/ 1379391 h 2758782"/>
                <a:gd name="connsiteX2" fmla="*/ 1379391 w 2758782"/>
                <a:gd name="connsiteY2" fmla="*/ 2646187 h 2758782"/>
                <a:gd name="connsiteX3" fmla="*/ 2646187 w 2758782"/>
                <a:gd name="connsiteY3" fmla="*/ 1379391 h 2758782"/>
                <a:gd name="connsiteX4" fmla="*/ 1379391 w 2758782"/>
                <a:gd name="connsiteY4" fmla="*/ 112595 h 2758782"/>
                <a:gd name="connsiteX5" fmla="*/ 1379391 w 2758782"/>
                <a:gd name="connsiteY5" fmla="*/ 0 h 2758782"/>
                <a:gd name="connsiteX6" fmla="*/ 2758782 w 2758782"/>
                <a:gd name="connsiteY6" fmla="*/ 1379391 h 2758782"/>
                <a:gd name="connsiteX7" fmla="*/ 1379391 w 2758782"/>
                <a:gd name="connsiteY7" fmla="*/ 2758782 h 2758782"/>
                <a:gd name="connsiteX8" fmla="*/ 0 w 2758782"/>
                <a:gd name="connsiteY8" fmla="*/ 1379391 h 2758782"/>
                <a:gd name="connsiteX9" fmla="*/ 1379391 w 2758782"/>
                <a:gd name="connsiteY9" fmla="*/ 0 h 275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58782" h="2758782">
                  <a:moveTo>
                    <a:pt x="1379391" y="112595"/>
                  </a:moveTo>
                  <a:cubicBezTo>
                    <a:pt x="679759" y="112595"/>
                    <a:pt x="112595" y="679759"/>
                    <a:pt x="112595" y="1379391"/>
                  </a:cubicBezTo>
                  <a:cubicBezTo>
                    <a:pt x="112595" y="2079023"/>
                    <a:pt x="679759" y="2646187"/>
                    <a:pt x="1379391" y="2646187"/>
                  </a:cubicBezTo>
                  <a:cubicBezTo>
                    <a:pt x="2079023" y="2646187"/>
                    <a:pt x="2646187" y="2079023"/>
                    <a:pt x="2646187" y="1379391"/>
                  </a:cubicBezTo>
                  <a:cubicBezTo>
                    <a:pt x="2646187" y="679759"/>
                    <a:pt x="2079023" y="112595"/>
                    <a:pt x="1379391" y="112595"/>
                  </a:cubicBezTo>
                  <a:close/>
                  <a:moveTo>
                    <a:pt x="1379391" y="0"/>
                  </a:moveTo>
                  <a:cubicBezTo>
                    <a:pt x="2141208" y="0"/>
                    <a:pt x="2758782" y="617574"/>
                    <a:pt x="2758782" y="1379391"/>
                  </a:cubicBezTo>
                  <a:cubicBezTo>
                    <a:pt x="2758782" y="2141208"/>
                    <a:pt x="2141208" y="2758782"/>
                    <a:pt x="1379391" y="2758782"/>
                  </a:cubicBezTo>
                  <a:cubicBezTo>
                    <a:pt x="617574" y="2758782"/>
                    <a:pt x="0" y="2141208"/>
                    <a:pt x="0" y="1379391"/>
                  </a:cubicBezTo>
                  <a:cubicBezTo>
                    <a:pt x="0" y="617574"/>
                    <a:pt x="617574" y="0"/>
                    <a:pt x="1379391" y="0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59B2CCB-89DE-21DE-838A-911B889DF461}"/>
              </a:ext>
            </a:extLst>
          </p:cNvPr>
          <p:cNvSpPr txBox="1"/>
          <p:nvPr/>
        </p:nvSpPr>
        <p:spPr>
          <a:xfrm>
            <a:off x="940327" y="5504520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+mn-cs"/>
              </a:rPr>
              <a:t>2026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7F752A6-5A9D-0CC4-704A-6DACD2E3D8EE}"/>
              </a:ext>
            </a:extLst>
          </p:cNvPr>
          <p:cNvGrpSpPr/>
          <p:nvPr/>
        </p:nvGrpSpPr>
        <p:grpSpPr>
          <a:xfrm>
            <a:off x="756114" y="5463868"/>
            <a:ext cx="10295645" cy="500216"/>
            <a:chOff x="756114" y="5349190"/>
            <a:chExt cx="10295645" cy="703267"/>
          </a:xfrm>
        </p:grpSpPr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A9782C91-B6A6-8E1D-77CB-389F79F7E99F}"/>
                </a:ext>
              </a:extLst>
            </p:cNvPr>
            <p:cNvCxnSpPr/>
            <p:nvPr/>
          </p:nvCxnSpPr>
          <p:spPr>
            <a:xfrm>
              <a:off x="756114" y="6052457"/>
              <a:ext cx="10295645" cy="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4A17B0CB-0849-138B-90F3-2AA1E6FC3C6B}"/>
                </a:ext>
              </a:extLst>
            </p:cNvPr>
            <p:cNvCxnSpPr>
              <a:cxnSpLocks/>
            </p:cNvCxnSpPr>
            <p:nvPr/>
          </p:nvCxnSpPr>
          <p:spPr>
            <a:xfrm>
              <a:off x="1806159" y="5349190"/>
              <a:ext cx="0" cy="692023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362A7B8A-A9C4-304F-F60D-90765E514E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10" t="-29933" b="1"/>
          <a:stretch/>
        </p:blipFill>
        <p:spPr>
          <a:xfrm>
            <a:off x="2137479" y="5463868"/>
            <a:ext cx="992848" cy="3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5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419DE-C6E1-9DFC-B19E-009B2A2F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A0584D-D84F-78D6-58E0-ACA6F9036A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10" t="-936" b="1"/>
          <a:stretch/>
        </p:blipFill>
        <p:spPr>
          <a:xfrm>
            <a:off x="9977228" y="251509"/>
            <a:ext cx="1146858" cy="30777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6373FD3-205A-9BDE-82EC-0ACAC99B6684}"/>
              </a:ext>
            </a:extLst>
          </p:cNvPr>
          <p:cNvSpPr txBox="1">
            <a:spLocks/>
          </p:cNvSpPr>
          <p:nvPr/>
        </p:nvSpPr>
        <p:spPr>
          <a:xfrm>
            <a:off x="590057" y="282286"/>
            <a:ext cx="35214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300" normalizeH="0" baseline="0" noProof="0">
                <a:ln>
                  <a:noFill/>
                </a:ln>
                <a:solidFill>
                  <a:srgbClr val="8C8CA5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//</a:t>
            </a:r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srgbClr val="8C8CA5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E75DBD2-6F45-0753-00E9-288A3E69291B}"/>
              </a:ext>
            </a:extLst>
          </p:cNvPr>
          <p:cNvSpPr/>
          <p:nvPr/>
        </p:nvSpPr>
        <p:spPr>
          <a:xfrm>
            <a:off x="428" y="6762504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gradFill>
            <a:gsLst>
              <a:gs pos="50000">
                <a:srgbClr val="EF2249"/>
              </a:gs>
              <a:gs pos="0">
                <a:srgbClr val="EF2249">
                  <a:alpha val="23000"/>
                </a:srgbClr>
              </a:gs>
              <a:gs pos="100000">
                <a:srgbClr val="EF2249">
                  <a:alpha val="0"/>
                </a:srgbClr>
              </a:gs>
            </a:gsLst>
            <a:lin ang="10800000" scaled="0"/>
          </a:gra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D5D667-FB87-32AF-D704-B303EE77F6AA}"/>
              </a:ext>
            </a:extLst>
          </p:cNvPr>
          <p:cNvSpPr/>
          <p:nvPr/>
        </p:nvSpPr>
        <p:spPr>
          <a:xfrm>
            <a:off x="421034" y="236120"/>
            <a:ext cx="10155478" cy="338554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rgbClr val="EF2249">
                    <a:alpha val="0"/>
                  </a:srgbClr>
                </a:gs>
                <a:gs pos="73000">
                  <a:srgbClr val="EF2249"/>
                </a:gs>
                <a:gs pos="100000">
                  <a:srgbClr val="EF2249"/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 Medium" pitchFamily="2" charset="0"/>
                <a:ea typeface="+mn-ea"/>
                <a:cs typeface="Poppins Black" pitchFamily="2" charset="77"/>
              </a:rPr>
              <a:t>SENAI-SP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 Black" pitchFamily="2" charset="77"/>
              </a:rPr>
              <a:t>|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 Black" pitchFamily="2" charset="77"/>
              </a:rPr>
              <a:t>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AEAEA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 Black" pitchFamily="2" charset="77"/>
              </a:rPr>
              <a:t>Cachorros nas Unidades SENAI-SP – Levantamento de Bem-estar Animal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EF2249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Poppins Black" pitchFamily="2" charset="77"/>
            </a:endParaRPr>
          </a:p>
        </p:txBody>
      </p:sp>
      <p:sp>
        <p:nvSpPr>
          <p:cNvPr id="1024" name="object 71">
            <a:extLst>
              <a:ext uri="{FF2B5EF4-FFF2-40B4-BE49-F238E27FC236}">
                <a16:creationId xmlns:a16="http://schemas.microsoft.com/office/drawing/2014/main" id="{7561928D-FA5A-B206-0459-3051DE58C6F2}"/>
              </a:ext>
            </a:extLst>
          </p:cNvPr>
          <p:cNvSpPr txBox="1">
            <a:spLocks/>
          </p:cNvSpPr>
          <p:nvPr/>
        </p:nvSpPr>
        <p:spPr>
          <a:xfrm>
            <a:off x="642165" y="1185657"/>
            <a:ext cx="6767926" cy="253609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-9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lack" pitchFamily="2" charset="0"/>
                <a:ea typeface="+mj-ea"/>
                <a:cs typeface="Poppins" pitchFamily="2" charset="77"/>
              </a:rPr>
              <a:t>Nível Ponderado – como o critério foi definido</a:t>
            </a:r>
          </a:p>
        </p:txBody>
      </p:sp>
      <p:cxnSp>
        <p:nvCxnSpPr>
          <p:cNvPr id="1038" name="Conector reto 1037">
            <a:extLst>
              <a:ext uri="{FF2B5EF4-FFF2-40B4-BE49-F238E27FC236}">
                <a16:creationId xmlns:a16="http://schemas.microsoft.com/office/drawing/2014/main" id="{4CC09EEB-5254-76A2-22C7-5088E45BE545}"/>
              </a:ext>
            </a:extLst>
          </p:cNvPr>
          <p:cNvCxnSpPr>
            <a:cxnSpLocks/>
          </p:cNvCxnSpPr>
          <p:nvPr/>
        </p:nvCxnSpPr>
        <p:spPr>
          <a:xfrm>
            <a:off x="436107" y="1100517"/>
            <a:ext cx="0" cy="401819"/>
          </a:xfrm>
          <a:prstGeom prst="line">
            <a:avLst/>
          </a:prstGeom>
          <a:ln w="57150" cap="rnd">
            <a:solidFill>
              <a:srgbClr val="EF224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Retângulo 1040">
            <a:extLst>
              <a:ext uri="{FF2B5EF4-FFF2-40B4-BE49-F238E27FC236}">
                <a16:creationId xmlns:a16="http://schemas.microsoft.com/office/drawing/2014/main" id="{0AA87F58-E327-E1E0-DDE3-E4C293EA552A}"/>
              </a:ext>
            </a:extLst>
          </p:cNvPr>
          <p:cNvSpPr/>
          <p:nvPr/>
        </p:nvSpPr>
        <p:spPr>
          <a:xfrm>
            <a:off x="935775" y="2440040"/>
            <a:ext cx="126246" cy="126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42" name="Retângulo 1041">
            <a:extLst>
              <a:ext uri="{FF2B5EF4-FFF2-40B4-BE49-F238E27FC236}">
                <a16:creationId xmlns:a16="http://schemas.microsoft.com/office/drawing/2014/main" id="{EB4EFB5F-1D92-E5D4-5EC0-4FD3687137C5}"/>
              </a:ext>
            </a:extLst>
          </p:cNvPr>
          <p:cNvSpPr/>
          <p:nvPr/>
        </p:nvSpPr>
        <p:spPr>
          <a:xfrm>
            <a:off x="935775" y="2313794"/>
            <a:ext cx="126246" cy="126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FB9C0959-6FEF-ADA2-7D4E-5E2DEAF637A5}"/>
              </a:ext>
            </a:extLst>
          </p:cNvPr>
          <p:cNvCxnSpPr>
            <a:cxnSpLocks/>
          </p:cNvCxnSpPr>
          <p:nvPr/>
        </p:nvCxnSpPr>
        <p:spPr>
          <a:xfrm>
            <a:off x="577885" y="3266675"/>
            <a:ext cx="12172" cy="3326149"/>
          </a:xfrm>
          <a:prstGeom prst="line">
            <a:avLst/>
          </a:prstGeom>
          <a:ln w="31750" cap="rnd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8D8841C8-6B4D-C4AB-4272-4DFFC508370A}"/>
              </a:ext>
            </a:extLst>
          </p:cNvPr>
          <p:cNvSpPr/>
          <p:nvPr/>
        </p:nvSpPr>
        <p:spPr>
          <a:xfrm>
            <a:off x="421034" y="1665686"/>
            <a:ext cx="1669107" cy="5657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Condição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EF2249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A977F04-6D9B-DECE-2EB7-0AA979040220}"/>
              </a:ext>
            </a:extLst>
          </p:cNvPr>
          <p:cNvSpPr/>
          <p:nvPr/>
        </p:nvSpPr>
        <p:spPr>
          <a:xfrm>
            <a:off x="436107" y="2376917"/>
            <a:ext cx="1669107" cy="565785"/>
          </a:xfrm>
          <a:prstGeom prst="roundRect">
            <a:avLst/>
          </a:prstGeom>
          <a:gradFill>
            <a:gsLst>
              <a:gs pos="0">
                <a:srgbClr val="EF2249"/>
              </a:gs>
              <a:gs pos="100000">
                <a:srgbClr val="EF224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3 faixas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8" name="object 71">
            <a:extLst>
              <a:ext uri="{FF2B5EF4-FFF2-40B4-BE49-F238E27FC236}">
                <a16:creationId xmlns:a16="http://schemas.microsoft.com/office/drawing/2014/main" id="{B82F9974-AF56-EC55-CED4-94C462127E90}"/>
              </a:ext>
            </a:extLst>
          </p:cNvPr>
          <p:cNvSpPr txBox="1">
            <a:spLocks/>
          </p:cNvSpPr>
          <p:nvPr/>
        </p:nvSpPr>
        <p:spPr>
          <a:xfrm>
            <a:off x="2355626" y="2320126"/>
            <a:ext cx="5120640" cy="679366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Conforme</a:t>
            </a: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 ≥ 70 </a:t>
            </a:r>
            <a:r>
              <a:rPr kumimoji="0" lang="pt-BR" sz="1400" b="1" i="0" u="none" strike="noStrike" kern="1200" cap="none" spc="-9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pts</a:t>
            </a: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 </a:t>
            </a:r>
          </a:p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Atenção</a:t>
            </a: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 45–69 </a:t>
            </a:r>
            <a:r>
              <a:rPr kumimoji="0" lang="pt-BR" sz="1400" b="1" i="0" u="none" strike="noStrike" kern="1200" cap="none" spc="-9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pts</a:t>
            </a:r>
            <a:endParaRPr kumimoji="0" lang="pt-BR" sz="1400" b="1" i="0" u="none" strike="noStrike" kern="1200" cap="none" spc="-9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+mj-ea"/>
              <a:cs typeface="Poppins" pitchFamily="2" charset="77"/>
            </a:endParaRPr>
          </a:p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Crítico</a:t>
            </a:r>
            <a:r>
              <a:rPr kumimoji="0" lang="pt-BR" sz="1400" b="1" i="0" u="none" strike="noStrike" kern="1200" cap="none" spc="-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 ≤ 44 </a:t>
            </a:r>
            <a:r>
              <a:rPr kumimoji="0" lang="pt-BR" sz="1400" b="1" i="0" u="none" strike="noStrike" kern="1200" cap="none" spc="-9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pts</a:t>
            </a:r>
            <a:endParaRPr kumimoji="0" lang="pt-BR" sz="1400" b="1" i="0" u="none" strike="noStrike" kern="1200" cap="none" spc="-9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+mj-ea"/>
              <a:cs typeface="Poppins" pitchFamily="2" charset="77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9848EB-6B68-0E45-3AD6-6C5D73C000A1}"/>
              </a:ext>
            </a:extLst>
          </p:cNvPr>
          <p:cNvSpPr txBox="1"/>
          <p:nvPr/>
        </p:nvSpPr>
        <p:spPr>
          <a:xfrm>
            <a:off x="766127" y="3266675"/>
            <a:ext cx="6755752" cy="328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Pesos por critério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50 pontos</a:t>
            </a:r>
          </a:p>
          <a:p>
            <a:pPr>
              <a:spcBef>
                <a:spcPts val="0"/>
              </a:spcBef>
              <a:defRPr/>
            </a:pPr>
            <a:r>
              <a:rPr lang="pt-BR" sz="14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Vacinação  |  Risco sanitário (ao animal e comunidade escolar)</a:t>
            </a:r>
          </a:p>
          <a:p>
            <a:pPr>
              <a:spcBef>
                <a:spcPts val="0"/>
              </a:spcBef>
              <a:defRPr/>
            </a:pPr>
            <a:r>
              <a:rPr lang="pt-BR" sz="1400" b="1" dirty="0">
                <a:solidFill>
                  <a:srgbClr val="EF2249"/>
                </a:solidFill>
                <a:latin typeface="Montserrat Bold" pitchFamily="2" charset="0"/>
                <a:cs typeface="Poppins ExtraBold" panose="00000900000000000000" pitchFamily="2" charset="0"/>
              </a:rPr>
              <a:t>Não Vacinado (Crítico)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20 pontos</a:t>
            </a:r>
          </a:p>
          <a:p>
            <a:pPr>
              <a:spcBef>
                <a:spcPts val="0"/>
              </a:spcBef>
              <a:defRPr/>
            </a:pPr>
            <a:r>
              <a:rPr lang="pt-BR" sz="14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Castração  |  Controle populacional (recomendação)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15 pontos</a:t>
            </a:r>
          </a:p>
          <a:p>
            <a:pPr>
              <a:spcBef>
                <a:spcPts val="0"/>
              </a:spcBef>
              <a:defRPr/>
            </a:pPr>
            <a:r>
              <a:rPr lang="pt-BR" sz="14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Microchipagem  |  Identificação e rastreio (recomendação)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10 pontos</a:t>
            </a:r>
          </a:p>
          <a:p>
            <a:pPr>
              <a:spcBef>
                <a:spcPts val="0"/>
              </a:spcBef>
              <a:defRPr/>
            </a:pPr>
            <a:r>
              <a:rPr lang="pt-BR" sz="14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Abrigo adequado  |  Bem-estar físico ao animal (recomendação)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5 pontos</a:t>
            </a:r>
          </a:p>
          <a:p>
            <a:pPr>
              <a:spcBef>
                <a:spcPts val="0"/>
              </a:spcBef>
              <a:defRPr/>
            </a:pPr>
            <a:r>
              <a:rPr lang="pt-BR" sz="14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Documento SENAI  |  Formalização do vínculo (sugestão)</a:t>
            </a:r>
          </a:p>
        </p:txBody>
      </p:sp>
      <p:pic>
        <p:nvPicPr>
          <p:cNvPr id="9" name="Picture 1042" descr="foto_slide7.jpg">
            <a:extLst>
              <a:ext uri="{FF2B5EF4-FFF2-40B4-BE49-F238E27FC236}">
                <a16:creationId xmlns:a16="http://schemas.microsoft.com/office/drawing/2014/main" id="{D29C8933-C62D-5487-A43F-1799D9B3A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737360"/>
            <a:ext cx="33832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419DE-C6E1-9DFC-B19E-009B2A2F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A0584D-D84F-78D6-58E0-ACA6F9036A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10" t="-936" b="1"/>
          <a:stretch/>
        </p:blipFill>
        <p:spPr>
          <a:xfrm>
            <a:off x="10576512" y="251509"/>
            <a:ext cx="1146858" cy="30777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6373FD3-205A-9BDE-82EC-0ACAC99B6684}"/>
              </a:ext>
            </a:extLst>
          </p:cNvPr>
          <p:cNvSpPr txBox="1">
            <a:spLocks/>
          </p:cNvSpPr>
          <p:nvPr/>
        </p:nvSpPr>
        <p:spPr>
          <a:xfrm>
            <a:off x="590057" y="282286"/>
            <a:ext cx="35214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300" normalizeH="0" baseline="0" noProof="0">
                <a:ln>
                  <a:noFill/>
                </a:ln>
                <a:solidFill>
                  <a:srgbClr val="8C8CA5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//</a:t>
            </a:r>
            <a:endParaRPr kumimoji="0" lang="en-US" sz="1000" b="0" i="0" u="none" strike="noStrike" kern="1200" cap="none" spc="300" normalizeH="0" baseline="0" noProof="0">
              <a:ln>
                <a:noFill/>
              </a:ln>
              <a:solidFill>
                <a:srgbClr val="8C8CA5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E75DBD2-6F45-0753-00E9-288A3E69291B}"/>
              </a:ext>
            </a:extLst>
          </p:cNvPr>
          <p:cNvSpPr/>
          <p:nvPr/>
        </p:nvSpPr>
        <p:spPr>
          <a:xfrm>
            <a:off x="428" y="6762504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gradFill>
            <a:gsLst>
              <a:gs pos="50000">
                <a:srgbClr val="EF2249"/>
              </a:gs>
              <a:gs pos="0">
                <a:srgbClr val="EF2249">
                  <a:alpha val="23000"/>
                </a:srgbClr>
              </a:gs>
              <a:gs pos="100000">
                <a:srgbClr val="EF2249">
                  <a:alpha val="0"/>
                </a:srgbClr>
              </a:gs>
            </a:gsLst>
            <a:lin ang="10800000" scaled="0"/>
          </a:gra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9D5D667-FB87-32AF-D704-B303EE77F6AA}"/>
              </a:ext>
            </a:extLst>
          </p:cNvPr>
          <p:cNvSpPr/>
          <p:nvPr/>
        </p:nvSpPr>
        <p:spPr>
          <a:xfrm>
            <a:off x="421034" y="236120"/>
            <a:ext cx="10155478" cy="338554"/>
          </a:xfrm>
          <a:prstGeom prst="roundRect">
            <a:avLst>
              <a:gd name="adj" fmla="val 50000"/>
            </a:avLst>
          </a:prstGeom>
          <a:noFill/>
          <a:ln>
            <a:gradFill>
              <a:gsLst>
                <a:gs pos="0">
                  <a:srgbClr val="EF2249">
                    <a:alpha val="0"/>
                  </a:srgbClr>
                </a:gs>
                <a:gs pos="73000">
                  <a:srgbClr val="EF2249"/>
                </a:gs>
                <a:gs pos="100000">
                  <a:srgbClr val="EF2249"/>
                </a:gs>
              </a:gsLst>
              <a:lin ang="108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 Medium" pitchFamily="2" charset="0"/>
                <a:ea typeface="+mn-ea"/>
                <a:cs typeface="Poppins Black" pitchFamily="2" charset="77"/>
              </a:rPr>
              <a:t>SENAI-SP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 Black" pitchFamily="2" charset="77"/>
              </a:rPr>
              <a:t>|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 Black" pitchFamily="2" charset="77"/>
              </a:rPr>
              <a:t> </a:t>
            </a: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EAEAEA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 Black" pitchFamily="2" charset="77"/>
              </a:rPr>
              <a:t>Cachorros nas Unidades SENAI-SP – Levantamento de Bem-estar Animal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rgbClr val="EF2249"/>
              </a:solidFill>
              <a:effectLst/>
              <a:uLnTx/>
              <a:uFillTx/>
              <a:latin typeface="Montserrat" panose="00000500000000000000" pitchFamily="50" charset="0"/>
              <a:ea typeface="+mn-ea"/>
              <a:cs typeface="Poppins Black" pitchFamily="2" charset="77"/>
            </a:endParaRPr>
          </a:p>
        </p:txBody>
      </p:sp>
      <p:sp>
        <p:nvSpPr>
          <p:cNvPr id="1024" name="object 71">
            <a:extLst>
              <a:ext uri="{FF2B5EF4-FFF2-40B4-BE49-F238E27FC236}">
                <a16:creationId xmlns:a16="http://schemas.microsoft.com/office/drawing/2014/main" id="{7561928D-FA5A-B206-0459-3051DE58C6F2}"/>
              </a:ext>
            </a:extLst>
          </p:cNvPr>
          <p:cNvSpPr txBox="1">
            <a:spLocks/>
          </p:cNvSpPr>
          <p:nvPr/>
        </p:nvSpPr>
        <p:spPr>
          <a:xfrm>
            <a:off x="642165" y="1185657"/>
            <a:ext cx="6767926" cy="253609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-9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lack" pitchFamily="2" charset="0"/>
                <a:ea typeface="+mj-ea"/>
                <a:cs typeface="Poppins" pitchFamily="2" charset="77"/>
              </a:rPr>
              <a:t>Microchipagem, documentação e demais informações</a:t>
            </a:r>
          </a:p>
        </p:txBody>
      </p:sp>
      <p:cxnSp>
        <p:nvCxnSpPr>
          <p:cNvPr id="1038" name="Conector reto 1037">
            <a:extLst>
              <a:ext uri="{FF2B5EF4-FFF2-40B4-BE49-F238E27FC236}">
                <a16:creationId xmlns:a16="http://schemas.microsoft.com/office/drawing/2014/main" id="{4CC09EEB-5254-76A2-22C7-5088E45BE545}"/>
              </a:ext>
            </a:extLst>
          </p:cNvPr>
          <p:cNvCxnSpPr>
            <a:cxnSpLocks/>
          </p:cNvCxnSpPr>
          <p:nvPr/>
        </p:nvCxnSpPr>
        <p:spPr>
          <a:xfrm>
            <a:off x="436107" y="1100517"/>
            <a:ext cx="0" cy="401819"/>
          </a:xfrm>
          <a:prstGeom prst="line">
            <a:avLst/>
          </a:prstGeom>
          <a:ln w="57150" cap="rnd">
            <a:solidFill>
              <a:srgbClr val="EF224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Retângulo 1040">
            <a:extLst>
              <a:ext uri="{FF2B5EF4-FFF2-40B4-BE49-F238E27FC236}">
                <a16:creationId xmlns:a16="http://schemas.microsoft.com/office/drawing/2014/main" id="{0AA87F58-E327-E1E0-DDE3-E4C293EA552A}"/>
              </a:ext>
            </a:extLst>
          </p:cNvPr>
          <p:cNvSpPr/>
          <p:nvPr/>
        </p:nvSpPr>
        <p:spPr>
          <a:xfrm>
            <a:off x="935775" y="2440040"/>
            <a:ext cx="126246" cy="126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42" name="Retângulo 1041">
            <a:extLst>
              <a:ext uri="{FF2B5EF4-FFF2-40B4-BE49-F238E27FC236}">
                <a16:creationId xmlns:a16="http://schemas.microsoft.com/office/drawing/2014/main" id="{EB4EFB5F-1D92-E5D4-5EC0-4FD3687137C5}"/>
              </a:ext>
            </a:extLst>
          </p:cNvPr>
          <p:cNvSpPr/>
          <p:nvPr/>
        </p:nvSpPr>
        <p:spPr>
          <a:xfrm>
            <a:off x="935775" y="2313794"/>
            <a:ext cx="126246" cy="1262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FB9C0959-6FEF-ADA2-7D4E-5E2DEAF637A5}"/>
              </a:ext>
            </a:extLst>
          </p:cNvPr>
          <p:cNvCxnSpPr>
            <a:cxnSpLocks/>
          </p:cNvCxnSpPr>
          <p:nvPr/>
        </p:nvCxnSpPr>
        <p:spPr>
          <a:xfrm>
            <a:off x="492192" y="3239233"/>
            <a:ext cx="0" cy="3289583"/>
          </a:xfrm>
          <a:prstGeom prst="line">
            <a:avLst/>
          </a:prstGeom>
          <a:ln w="31750" cap="rnd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8D8841C8-6B4D-C4AB-4272-4DFFC508370A}"/>
              </a:ext>
            </a:extLst>
          </p:cNvPr>
          <p:cNvSpPr/>
          <p:nvPr/>
        </p:nvSpPr>
        <p:spPr>
          <a:xfrm>
            <a:off x="458644" y="1811937"/>
            <a:ext cx="2091324" cy="5657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31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EF2249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%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A977F04-6D9B-DECE-2EB7-0AA979040220}"/>
              </a:ext>
            </a:extLst>
          </p:cNvPr>
          <p:cNvSpPr/>
          <p:nvPr/>
        </p:nvSpPr>
        <p:spPr>
          <a:xfrm>
            <a:off x="458645" y="2506722"/>
            <a:ext cx="1601619" cy="565785"/>
          </a:xfrm>
          <a:prstGeom prst="roundRect">
            <a:avLst/>
          </a:prstGeom>
          <a:gradFill>
            <a:gsLst>
              <a:gs pos="0">
                <a:srgbClr val="EF2249"/>
              </a:gs>
              <a:gs pos="100000">
                <a:srgbClr val="EF224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19%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8" name="object 71">
            <a:extLst>
              <a:ext uri="{FF2B5EF4-FFF2-40B4-BE49-F238E27FC236}">
                <a16:creationId xmlns:a16="http://schemas.microsoft.com/office/drawing/2014/main" id="{B82F9974-AF56-EC55-CED4-94C462127E90}"/>
              </a:ext>
            </a:extLst>
          </p:cNvPr>
          <p:cNvSpPr txBox="1">
            <a:spLocks/>
          </p:cNvSpPr>
          <p:nvPr/>
        </p:nvSpPr>
        <p:spPr>
          <a:xfrm>
            <a:off x="2237942" y="2635938"/>
            <a:ext cx="4206240" cy="253609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9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Com documento SENAI — 3 de 16</a:t>
            </a:r>
          </a:p>
        </p:txBody>
      </p:sp>
      <p:sp>
        <p:nvSpPr>
          <p:cNvPr id="40" name="object 71">
            <a:extLst>
              <a:ext uri="{FF2B5EF4-FFF2-40B4-BE49-F238E27FC236}">
                <a16:creationId xmlns:a16="http://schemas.microsoft.com/office/drawing/2014/main" id="{5D9FBE1C-914A-F414-EB37-574387465476}"/>
              </a:ext>
            </a:extLst>
          </p:cNvPr>
          <p:cNvSpPr txBox="1">
            <a:spLocks/>
          </p:cNvSpPr>
          <p:nvPr/>
        </p:nvSpPr>
        <p:spPr>
          <a:xfrm>
            <a:off x="2809581" y="1968025"/>
            <a:ext cx="4206240" cy="253609"/>
          </a:xfrm>
          <a:prstGeom prst="rect">
            <a:avLst/>
          </a:prstGeom>
          <a:noFill/>
        </p:spPr>
        <p:txBody>
          <a:bodyPr vert="horz" wrap="square" lIns="0" tIns="7316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9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itchFamily="2" charset="0"/>
                <a:ea typeface="+mj-ea"/>
                <a:cs typeface="Poppins" pitchFamily="2" charset="77"/>
              </a:rPr>
              <a:t>Microchipados — 5 de 16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9848EB-6B68-0E45-3AD6-6C5D73C000A1}"/>
              </a:ext>
            </a:extLst>
          </p:cNvPr>
          <p:cNvSpPr txBox="1"/>
          <p:nvPr/>
        </p:nvSpPr>
        <p:spPr>
          <a:xfrm>
            <a:off x="642165" y="3139189"/>
            <a:ext cx="7037240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Por que isso importa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RGA</a:t>
            </a:r>
          </a:p>
          <a:p>
            <a:pPr>
              <a:spcBef>
                <a:spcPts val="0"/>
              </a:spcBef>
              <a:defRPr/>
            </a:pPr>
            <a:r>
              <a:rPr lang="pt-BR" sz="11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Primeiro passo para o Registro Geral do Animal, obrigatório na cidade de São Paulo.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Reencontro (Valor médio microchipagem)</a:t>
            </a:r>
            <a:b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Clínicas Populares e ONGs: Cobram valores mais acessíveis, normalmente entre R$ 100 e R$ 200. (Algumas cidades oferecem campanhas sazonais públicas gratuitas, como por exemplo: Jundiaí, Barueri, Campinas e São Paulo.</a:t>
            </a:r>
          </a:p>
          <a:p>
            <a:pPr>
              <a:spcBef>
                <a:spcPts val="0"/>
              </a:spcBef>
              <a:defRPr/>
            </a:pPr>
            <a: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Sem chip, o animal que eventualmente fugir, não estará vinculado à unidade.</a:t>
            </a:r>
            <a:b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</a:br>
            <a: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Maiores Informações </a:t>
            </a:r>
            <a: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  <a:hlinkClick r:id="rId4"/>
              </a:rPr>
              <a:t>https://www.cvsf.com.br/entenda-o-que-e-e-como-funciona-o-microchip-de-identificacao-animal/</a:t>
            </a:r>
            <a:endParaRPr lang="pt-BR" sz="1200" b="1" dirty="0">
              <a:solidFill>
                <a:schemeClr val="bg1"/>
              </a:solidFill>
              <a:latin typeface="Montserrat Bold" pitchFamily="2" charset="0"/>
              <a:cs typeface="Poppins ExtraBold" panose="000009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Responsabilidade</a:t>
            </a:r>
          </a:p>
          <a:p>
            <a:pPr>
              <a:spcBef>
                <a:spcPts val="0"/>
              </a:spcBef>
              <a:defRPr/>
            </a:pPr>
            <a: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Alimentar e abrigar não constitui posse legal.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FFC000"/>
                </a:solidFill>
                <a:latin typeface="Montserrat Bold" pitchFamily="2" charset="0"/>
                <a:cs typeface="Poppins ExtraBold" panose="00000900000000000000" pitchFamily="2" charset="0"/>
              </a:rPr>
              <a:t>Legislação (Maus-tratos)</a:t>
            </a:r>
          </a:p>
          <a:p>
            <a:pPr>
              <a:spcBef>
                <a:spcPts val="0"/>
              </a:spcBef>
              <a:defRPr/>
            </a:pPr>
            <a:r>
              <a:rPr lang="pt-BR" sz="1200" b="1" dirty="0">
                <a:solidFill>
                  <a:schemeClr val="bg1"/>
                </a:solidFill>
                <a:latin typeface="Montserrat Bold" pitchFamily="2" charset="0"/>
                <a:cs typeface="Poppins ExtraBold" panose="00000900000000000000" pitchFamily="2" charset="0"/>
              </a:rPr>
              <a:t>2 a 5 anos de reclusão (Lei Federal nº 9.605/98) / (Lei Federal nº 14.064/2020)</a:t>
            </a:r>
            <a:endParaRPr lang="pt-BR" sz="950" b="1" dirty="0">
              <a:solidFill>
                <a:schemeClr val="bg1"/>
              </a:solidFill>
              <a:latin typeface="Montserrat Bold" pitchFamily="2" charset="0"/>
              <a:cs typeface="Poppins ExtraBold" panose="00000900000000000000" pitchFamily="2" charset="0"/>
            </a:endParaRPr>
          </a:p>
        </p:txBody>
      </p:sp>
      <p:pic>
        <p:nvPicPr>
          <p:cNvPr id="6" name="Picture 1042" descr="foto_slide6.jpg">
            <a:extLst>
              <a:ext uri="{FF2B5EF4-FFF2-40B4-BE49-F238E27FC236}">
                <a16:creationId xmlns:a16="http://schemas.microsoft.com/office/drawing/2014/main" id="{08118A53-BDFD-FED9-9145-9C90A60C5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8" y="1737360"/>
            <a:ext cx="33832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B08B431EBD4347A48C5FBF37E0FA13" ma:contentTypeVersion="20" ma:contentTypeDescription="Crie um novo documento." ma:contentTypeScope="" ma:versionID="459b6b7cd9f9f8585952780a64280138">
  <xsd:schema xmlns:xsd="http://www.w3.org/2001/XMLSchema" xmlns:xs="http://www.w3.org/2001/XMLSchema" xmlns:p="http://schemas.microsoft.com/office/2006/metadata/properties" xmlns:ns2="425d0356-a467-47ad-a06b-1c1d23871b07" xmlns:ns3="4c2b8f09-a594-4c9e-9ecb-2577c1a175a0" targetNamespace="http://schemas.microsoft.com/office/2006/metadata/properties" ma:root="true" ma:fieldsID="d8de008e3393855596d5a3a20af1ed00" ns2:_="" ns3:_="">
    <xsd:import namespace="425d0356-a467-47ad-a06b-1c1d23871b07"/>
    <xsd:import namespace="4c2b8f09-a594-4c9e-9ecb-2577c1a175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Respons_x00e1_vel" minOccurs="0"/>
                <xsd:element ref="ns2:Status" minOccurs="0"/>
                <xsd:element ref="ns2:Observa_x00e7__x00f5_es" minOccurs="0"/>
                <xsd:element ref="ns2:Processo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5d0356-a467-47ad-a06b-1c1d23871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bb9e50e-ce22-4fee-9d7c-9dfda410bf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Respons_x00e1_vel" ma:index="21" nillable="true" ma:displayName="Responsável" ma:format="Dropdown" ma:list="UserInfo" ma:SharePointGroup="0" ma:internalName="Respons_x00e1_vel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22" nillable="true" ma:displayName="Status" ma:default="A Fazer" ma:format="Dropdown" ma:internalName="Status">
      <xsd:simpleType>
        <xsd:union memberTypes="dms:Text">
          <xsd:simpleType>
            <xsd:restriction base="dms:Choice">
              <xsd:enumeration value="A Fazer"/>
              <xsd:enumeration value="Tramitado para Vinícius"/>
              <xsd:enumeration value="Concluído"/>
              <xsd:enumeration value="Pendência Assinatura"/>
              <xsd:enumeration value="Aguardando Conselho"/>
            </xsd:restriction>
          </xsd:simpleType>
        </xsd:union>
      </xsd:simpleType>
    </xsd:element>
    <xsd:element name="Observa_x00e7__x00f5_es" ma:index="23" nillable="true" ma:displayName="Observações" ma:format="Dropdown" ma:internalName="Observa_x00e7__x00f5_es">
      <xsd:simpleType>
        <xsd:restriction base="dms:Note">
          <xsd:maxLength value="255"/>
        </xsd:restriction>
      </xsd:simpleType>
    </xsd:element>
    <xsd:element name="Processo" ma:index="24" nillable="true" ma:displayName="Processo" ma:format="Dropdown" ma:internalName="Processo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b8f09-a594-4c9e-9ecb-2577c1a175a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b6c5e71-1db6-4c6e-b6e6-b2274b96e70f}" ma:internalName="TaxCatchAll" ma:showField="CatchAllData" ma:web="4c2b8f09-a594-4c9e-9ecb-2577c1a175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_x00e1_vel xmlns="425d0356-a467-47ad-a06b-1c1d23871b07">
      <UserInfo>
        <DisplayName/>
        <AccountId xsi:nil="true"/>
        <AccountType/>
      </UserInfo>
    </Respons_x00e1_vel>
    <Observa_x00e7__x00f5_es xmlns="425d0356-a467-47ad-a06b-1c1d23871b07" xsi:nil="true"/>
    <Processo xmlns="425d0356-a467-47ad-a06b-1c1d23871b07" xsi:nil="true"/>
    <lcf76f155ced4ddcb4097134ff3c332f xmlns="425d0356-a467-47ad-a06b-1c1d23871b07">
      <Terms xmlns="http://schemas.microsoft.com/office/infopath/2007/PartnerControls"/>
    </lcf76f155ced4ddcb4097134ff3c332f>
    <Status xmlns="425d0356-a467-47ad-a06b-1c1d23871b07">A Fazer</Status>
    <TaxCatchAll xmlns="4c2b8f09-a594-4c9e-9ecb-2577c1a175a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011B97-87E4-4123-92C4-FA069626CC77}">
  <ds:schemaRefs>
    <ds:schemaRef ds:uri="425d0356-a467-47ad-a06b-1c1d23871b07"/>
    <ds:schemaRef ds:uri="4c2b8f09-a594-4c9e-9ecb-2577c1a175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31CCE48-62FB-43BE-91BF-01ED8DBDD399}">
  <ds:schemaRefs>
    <ds:schemaRef ds:uri="425d0356-a467-47ad-a06b-1c1d23871b07"/>
    <ds:schemaRef ds:uri="4c2b8f09-a594-4c9e-9ecb-2577c1a175a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CD371B7-AB13-4E63-ACDF-3119CE8670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273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15" baseType="lpstr">
      <vt:lpstr>Poppins ExtraBold</vt:lpstr>
      <vt:lpstr>Arial</vt:lpstr>
      <vt:lpstr>Montserrat</vt:lpstr>
      <vt:lpstr>Aptos Display</vt:lpstr>
      <vt:lpstr>Montserrat Medium</vt:lpstr>
      <vt:lpstr>Aptos</vt:lpstr>
      <vt:lpstr>Montserrat Black</vt:lpstr>
      <vt:lpstr>Poppins Light</vt:lpstr>
      <vt:lpstr>Calibri</vt:lpstr>
      <vt:lpstr>Montserrat Bold</vt:lpstr>
      <vt:lpstr>1_Tema do Office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</dc:title>
  <dc:creator>UPLAB</dc:creator>
  <cp:lastModifiedBy>Paulo Lucas da Silva</cp:lastModifiedBy>
  <cp:revision>5</cp:revision>
  <cp:lastPrinted>2026-05-19T13:28:17Z</cp:lastPrinted>
  <dcterms:created xsi:type="dcterms:W3CDTF">2018-04-08T02:46:09Z</dcterms:created>
  <dcterms:modified xsi:type="dcterms:W3CDTF">2026-08-13T11:31:07Z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0x01010016B08B431EBD4347A48C5FBF37E0FA13</vt:lpwstr>
  </property>
  <property fmtid="{D5CDD505-2E9C-101B-9397-08002B2CF9AE}" pid="3" name="MediaServiceImageTags">
    <vt:lpwstr/>
  </property>
</Properties>
</file>